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7315200" cy="9144000"/>
  <p:notesSz cx="9144000" cy="7315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317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74813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WESPOT </a:t>
            </a:r>
            <a:r>
              <a:rPr lang="en-US" sz="1200" kern="0" spc="300" dirty="0">
                <a:solidFill>
                  <a:srgbClr val="8A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BIO LAB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623560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5701284" y="548640"/>
            <a:ext cx="82296" cy="201168"/>
          </a:xfrm>
          <a:prstGeom prst="rect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820156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897880" y="548640"/>
            <a:ext cx="41148" cy="201168"/>
          </a:xfrm>
          <a:prstGeom prst="rect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975604" y="548640"/>
            <a:ext cx="123444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6135624" y="548640"/>
            <a:ext cx="82296" cy="201168"/>
          </a:xfrm>
          <a:prstGeom prst="rect">
            <a:avLst/>
          </a:prstGeom>
          <a:solidFill>
            <a:srgbClr val="6E45A6"/>
          </a:solidFill>
          <a:ln w="12700">
            <a:solidFill>
              <a:srgbClr val="6E45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6254496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6332220" y="548640"/>
            <a:ext cx="41148" cy="201168"/>
          </a:xfrm>
          <a:prstGeom prst="rect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6409944" y="548640"/>
            <a:ext cx="82296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6528816" y="548640"/>
            <a:ext cx="82296" cy="201168"/>
          </a:xfrm>
          <a:prstGeom prst="rect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6647688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6725412" y="548640"/>
            <a:ext cx="41148" cy="201168"/>
          </a:xfrm>
          <a:prstGeom prst="rect">
            <a:avLst/>
          </a:prstGeom>
          <a:solidFill>
            <a:srgbClr val="6E45A6"/>
          </a:solidFill>
          <a:ln w="12700">
            <a:solidFill>
              <a:srgbClr val="6E45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Text 13"/>
          <p:cNvSpPr txBox="1"/>
          <p:nvPr/>
        </p:nvSpPr>
        <p:spPr>
          <a:xfrm>
            <a:off x="548640" y="274320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-300" dirty="0">
                <a:solidFill>
                  <a:srgbClr val="7CB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</a:t>
            </a:r>
            <a:r>
              <a:rPr lang="en-US" sz="6400" b="1" kern="0" spc="-300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are</a:t>
            </a:r>
            <a:endParaRPr lang="en-US" sz="64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35661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kern="0" spc="-300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</a:t>
            </a:r>
            <a:endParaRPr lang="en-US" sz="64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5029200"/>
            <a:ext cx="62179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일상의 균형을 과학으로 설계하는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웰니스 브랜드 </a:t>
            </a:r>
            <a:r>
              <a:rPr lang="en-US" sz="17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Zengenetics</a:t>
            </a:r>
            <a:r>
              <a:rPr lang="en-US" sz="170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7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70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세계를 향해 함께 성장할 인재를 모집합니다.</a:t>
            </a:r>
            <a:endParaRPr lang="en-US" sz="170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83667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위스팟바이오랩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626364" y="548640"/>
            <a:ext cx="82296" cy="201168"/>
          </a:xfrm>
          <a:prstGeom prst="rect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745236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822960" y="548640"/>
            <a:ext cx="41148" cy="201168"/>
          </a:xfrm>
          <a:prstGeom prst="rect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900684" y="548640"/>
            <a:ext cx="123444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1060704" y="548640"/>
            <a:ext cx="82296" cy="201168"/>
          </a:xfrm>
          <a:prstGeom prst="rect">
            <a:avLst/>
          </a:prstGeom>
          <a:solidFill>
            <a:srgbClr val="6E45A6"/>
          </a:solidFill>
          <a:ln w="12700">
            <a:solidFill>
              <a:srgbClr val="6E45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1179576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1257300" y="548640"/>
            <a:ext cx="41148" cy="201168"/>
          </a:xfrm>
          <a:prstGeom prst="rect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1335024" y="548640"/>
            <a:ext cx="82296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1453896" y="548640"/>
            <a:ext cx="82296" cy="201168"/>
          </a:xfrm>
          <a:prstGeom prst="rect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1572768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1650492" y="548640"/>
            <a:ext cx="41148" cy="201168"/>
          </a:xfrm>
          <a:prstGeom prst="rect">
            <a:avLst/>
          </a:prstGeom>
          <a:solidFill>
            <a:srgbClr val="6E45A6"/>
          </a:solidFill>
          <a:ln w="12700">
            <a:solidFill>
              <a:srgbClr val="6E45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548640" y="128016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b="1" kern="0" spc="-100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Are What You've Been Looking For</a:t>
            </a:r>
            <a:endParaRPr lang="en-US" sz="26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2560320"/>
            <a:ext cx="62179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4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위스팟바이오랩은 "오늘의 컨디션이 삶의 질을 결정한다"는</a:t>
            </a:r>
            <a:endParaRPr lang="en-US" sz="14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4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믿음에서 출발했습니다.</a:t>
            </a:r>
            <a:endParaRPr lang="en-US" sz="14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4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우리는 단기 유행이 아니라 </a:t>
            </a:r>
            <a:r>
              <a:rPr lang="en-US" sz="1450" b="1" dirty="0">
                <a:solidFill>
                  <a:srgbClr val="1C3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과학적 근거 위에 세운 웰니스 루틴</a:t>
            </a:r>
            <a:r>
              <a:rPr lang="en-US" sz="14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으로 고객의 매일을 바꿉니다. 한국에서 시작해 </a:t>
            </a:r>
            <a:r>
              <a:rPr lang="en-US" sz="1450" b="1" dirty="0">
                <a:solidFill>
                  <a:srgbClr val="7CB9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아시아</a:t>
            </a:r>
            <a:r>
              <a:rPr lang="en-US" sz="14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450" b="1" dirty="0">
                <a:solidFill>
                  <a:srgbClr val="C13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북미와 유럽</a:t>
            </a:r>
            <a:r>
              <a:rPr lang="en-US" sz="14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, </a:t>
            </a:r>
            <a:r>
              <a:rPr lang="en-US" sz="1450" b="1" dirty="0">
                <a:solidFill>
                  <a:srgbClr val="6E4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남미</a:t>
            </a:r>
            <a:r>
              <a:rPr lang="en-US" sz="14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까지. 국경과 언어가 달라도 누구나 공감하는 일상의 문제를 같은 방식으로 풀어내는 글로벌 웰니스 브랜드가 우리가 그리는 모습입니다. 외부 투자 없이도 자생적으로 성장해 온 힘은 본질에 집중한 실행력에서 비롯되었습니다.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67512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5000"/>
              </a:lnSpc>
              <a:buNone/>
            </a:pPr>
            <a:r>
              <a:rPr lang="en-US" sz="1450" b="1" dirty="0">
                <a:solidFill>
                  <a:srgbClr val="1C3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개인의 성장이 곧 회사의 성장,</a:t>
            </a:r>
            <a:endParaRPr lang="en-US" sz="1450" dirty="0"/>
          </a:p>
          <a:p>
            <a:pPr marL="0" indent="0">
              <a:lnSpc>
                <a:spcPct val="155000"/>
              </a:lnSpc>
              <a:buNone/>
            </a:pPr>
            <a:r>
              <a:rPr lang="en-US" sz="1450" b="1" dirty="0">
                <a:solidFill>
                  <a:srgbClr val="1C3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함께 성장하며 더 큰 가능성을 열어갈 인재를 모십니다.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41732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3" name="Image 0" descr="/home/claude/world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17320"/>
            <a:ext cx="7315200" cy="27432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48640" y="320040"/>
            <a:ext cx="6217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54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r>
              <a:rPr lang="en-US" sz="1300" dirty="0">
                <a:solidFill>
                  <a:srgbClr val="8A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countries &amp; counting</a:t>
            </a:r>
            <a:endParaRPr lang="en-US" sz="54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1078992"/>
            <a:ext cx="6217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한국에서 시작해, 지금은 전 세계로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2925064" y="2086864"/>
            <a:ext cx="347472" cy="347472"/>
          </a:xfrm>
          <a:prstGeom prst="ellipse">
            <a:avLst/>
          </a:prstGeom>
          <a:solidFill>
            <a:srgbClr val="1C3D8F">
              <a:alpha val="20000"/>
            </a:srgbClr>
          </a:solidFill>
          <a:ln w="12700">
            <a:solidFill>
              <a:srgbClr val="1C3D8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4"/>
          <p:cNvSpPr/>
          <p:nvPr/>
        </p:nvSpPr>
        <p:spPr>
          <a:xfrm>
            <a:off x="3007360" y="2169160"/>
            <a:ext cx="182880" cy="182880"/>
          </a:xfrm>
          <a:prstGeom prst="ellipse">
            <a:avLst/>
          </a:prstGeom>
          <a:solidFill>
            <a:srgbClr val="1C3D8F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Text 5"/>
          <p:cNvSpPr txBox="1"/>
          <p:nvPr/>
        </p:nvSpPr>
        <p:spPr>
          <a:xfrm>
            <a:off x="2550160" y="18034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898140" y="2452116"/>
            <a:ext cx="137160" cy="137160"/>
          </a:xfrm>
          <a:prstGeom prst="ellipse">
            <a:avLst/>
          </a:prstGeom>
          <a:solidFill>
            <a:srgbClr val="7CB9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7"/>
          <p:cNvSpPr/>
          <p:nvPr/>
        </p:nvSpPr>
        <p:spPr>
          <a:xfrm>
            <a:off x="2759964" y="2480564"/>
            <a:ext cx="137160" cy="137160"/>
          </a:xfrm>
          <a:prstGeom prst="ellipse">
            <a:avLst/>
          </a:prstGeom>
          <a:solidFill>
            <a:srgbClr val="C1305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8"/>
          <p:cNvSpPr/>
          <p:nvPr/>
        </p:nvSpPr>
        <p:spPr>
          <a:xfrm>
            <a:off x="2552700" y="2212340"/>
            <a:ext cx="137160" cy="137160"/>
          </a:xfrm>
          <a:prstGeom prst="ellipse">
            <a:avLst/>
          </a:prstGeom>
          <a:solidFill>
            <a:srgbClr val="6E45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9"/>
          <p:cNvSpPr/>
          <p:nvPr/>
        </p:nvSpPr>
        <p:spPr>
          <a:xfrm>
            <a:off x="2548636" y="2907284"/>
            <a:ext cx="137160" cy="137160"/>
          </a:xfrm>
          <a:prstGeom prst="ellipse">
            <a:avLst/>
          </a:prstGeom>
          <a:solidFill>
            <a:srgbClr val="7CB9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0"/>
          <p:cNvSpPr/>
          <p:nvPr/>
        </p:nvSpPr>
        <p:spPr>
          <a:xfrm>
            <a:off x="2735580" y="2984500"/>
            <a:ext cx="137160" cy="137160"/>
          </a:xfrm>
          <a:prstGeom prst="ellipse">
            <a:avLst/>
          </a:prstGeom>
          <a:solidFill>
            <a:srgbClr val="C1305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1"/>
          <p:cNvSpPr/>
          <p:nvPr/>
        </p:nvSpPr>
        <p:spPr>
          <a:xfrm>
            <a:off x="2522220" y="2531364"/>
            <a:ext cx="137160" cy="137160"/>
          </a:xfrm>
          <a:prstGeom prst="ellipse">
            <a:avLst/>
          </a:prstGeom>
          <a:solidFill>
            <a:srgbClr val="6E45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2"/>
          <p:cNvSpPr/>
          <p:nvPr/>
        </p:nvSpPr>
        <p:spPr>
          <a:xfrm>
            <a:off x="5763260" y="2141220"/>
            <a:ext cx="137160" cy="137160"/>
          </a:xfrm>
          <a:prstGeom prst="ellipse">
            <a:avLst/>
          </a:prstGeom>
          <a:solidFill>
            <a:srgbClr val="7CB9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3"/>
          <p:cNvSpPr/>
          <p:nvPr/>
        </p:nvSpPr>
        <p:spPr>
          <a:xfrm>
            <a:off x="650748" y="1897380"/>
            <a:ext cx="137160" cy="137160"/>
          </a:xfrm>
          <a:prstGeom prst="ellipse">
            <a:avLst/>
          </a:prstGeom>
          <a:solidFill>
            <a:srgbClr val="C1305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Shape 14"/>
          <p:cNvSpPr/>
          <p:nvPr/>
        </p:nvSpPr>
        <p:spPr>
          <a:xfrm>
            <a:off x="547116" y="1872996"/>
            <a:ext cx="137160" cy="137160"/>
          </a:xfrm>
          <a:prstGeom prst="ellipse">
            <a:avLst/>
          </a:prstGeom>
          <a:solidFill>
            <a:srgbClr val="6E45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8" name="Shape 15"/>
          <p:cNvSpPr/>
          <p:nvPr/>
        </p:nvSpPr>
        <p:spPr>
          <a:xfrm>
            <a:off x="3253740" y="2181860"/>
            <a:ext cx="137160" cy="137160"/>
          </a:xfrm>
          <a:prstGeom prst="ellipse">
            <a:avLst/>
          </a:prstGeom>
          <a:solidFill>
            <a:srgbClr val="7CB9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9" name="Shape 16"/>
          <p:cNvSpPr/>
          <p:nvPr/>
        </p:nvSpPr>
        <p:spPr>
          <a:xfrm>
            <a:off x="2644140" y="2659380"/>
            <a:ext cx="137160" cy="137160"/>
          </a:xfrm>
          <a:prstGeom prst="ellipse">
            <a:avLst/>
          </a:prstGeom>
          <a:solidFill>
            <a:srgbClr val="C1305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Shape 17"/>
          <p:cNvSpPr/>
          <p:nvPr/>
        </p:nvSpPr>
        <p:spPr>
          <a:xfrm>
            <a:off x="5722620" y="1755140"/>
            <a:ext cx="137160" cy="137160"/>
          </a:xfrm>
          <a:prstGeom prst="ellipse">
            <a:avLst/>
          </a:prstGeom>
          <a:solidFill>
            <a:srgbClr val="6E45A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8"/>
          <p:cNvSpPr/>
          <p:nvPr/>
        </p:nvSpPr>
        <p:spPr>
          <a:xfrm>
            <a:off x="6718300" y="3136900"/>
            <a:ext cx="137160" cy="137160"/>
          </a:xfrm>
          <a:prstGeom prst="ellipse">
            <a:avLst/>
          </a:prstGeom>
          <a:solidFill>
            <a:srgbClr val="7CB92E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Shape 19"/>
          <p:cNvSpPr/>
          <p:nvPr/>
        </p:nvSpPr>
        <p:spPr>
          <a:xfrm>
            <a:off x="5681980" y="2456180"/>
            <a:ext cx="137160" cy="137160"/>
          </a:xfrm>
          <a:prstGeom prst="ellipse">
            <a:avLst/>
          </a:prstGeom>
          <a:solidFill>
            <a:srgbClr val="C1305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3" name="Text 50"/>
          <p:cNvSpPr txBox="1"/>
          <p:nvPr/>
        </p:nvSpPr>
        <p:spPr>
          <a:xfrm>
            <a:off x="548640" y="461391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kern="0" spc="-100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and Yet Grounded</a:t>
            </a:r>
            <a:endParaRPr lang="en-US" sz="2400" dirty="0"/>
          </a:p>
        </p:txBody>
      </p:sp>
      <p:sp>
        <p:nvSpPr>
          <p:cNvPr id="54" name="Text 51"/>
          <p:cNvSpPr txBox="1"/>
          <p:nvPr/>
        </p:nvSpPr>
        <p:spPr>
          <a:xfrm>
            <a:off x="548640" y="5524500"/>
            <a:ext cx="6217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Zengenetics는 한국에서 시작해 </a:t>
            </a:r>
            <a:r>
              <a:rPr lang="en-US" sz="1300" b="1" dirty="0">
                <a:solidFill>
                  <a:srgbClr val="7CB92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대만·홍콩·중국·싱가포르·인도네시아·라오스</a:t>
            </a:r>
            <a:r>
              <a:rPr lang="en-US" sz="130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거쳐 </a:t>
            </a:r>
            <a:r>
              <a:rPr lang="en-US" sz="1300" b="1" dirty="0">
                <a:solidFill>
                  <a:srgbClr val="C1305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미국·독일·네덜란드·일본·베트남·캐나다·브라질·멕시코</a:t>
            </a:r>
            <a:r>
              <a:rPr lang="en-US" sz="130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까지 </a:t>
            </a:r>
            <a:r>
              <a:rPr lang="en-US" sz="1300" dirty="0" err="1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시장을</a:t>
            </a:r>
            <a:r>
              <a:rPr lang="en-US" sz="130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1300" dirty="0" err="1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넓혀</a:t>
            </a:r>
            <a:r>
              <a:rPr lang="en-US" sz="130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ko-KR" altLang="en-US" sz="1300" dirty="0" err="1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가고있</a:t>
            </a:r>
            <a:r>
              <a:rPr lang="en-US" sz="1300" dirty="0" err="1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습니다</a:t>
            </a:r>
            <a:r>
              <a:rPr lang="en-US" sz="130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 그리고 지금도 </a:t>
            </a:r>
            <a:r>
              <a:rPr lang="en-US" sz="1300" b="1" dirty="0">
                <a:solidFill>
                  <a:srgbClr val="6E45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 세계</a:t>
            </a:r>
            <a:r>
              <a:rPr lang="en-US" sz="130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향해 뻗어나가고 있습니다. 우리는 성분을 파는 회사가 아니라 세계 어디서든 통하는 </a:t>
            </a:r>
            <a:r>
              <a:rPr lang="en-US" sz="1300" b="1" dirty="0">
                <a:solidFill>
                  <a:srgbClr val="1C3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웰니스의 기준</a:t>
            </a:r>
            <a:r>
              <a:rPr lang="en-US" sz="130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을 만드는 글로벌 웰니스 기업으로 성장하고 있습니다. 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Benefits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5623560" y="621792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5701284" y="621792"/>
            <a:ext cx="82296" cy="201168"/>
          </a:xfrm>
          <a:prstGeom prst="rect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820156" y="621792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897880" y="621792"/>
            <a:ext cx="41148" cy="201168"/>
          </a:xfrm>
          <a:prstGeom prst="rect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975604" y="621792"/>
            <a:ext cx="123444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6135624" y="621792"/>
            <a:ext cx="82296" cy="201168"/>
          </a:xfrm>
          <a:prstGeom prst="rect">
            <a:avLst/>
          </a:prstGeom>
          <a:solidFill>
            <a:srgbClr val="6E45A6"/>
          </a:solidFill>
          <a:ln w="12700">
            <a:solidFill>
              <a:srgbClr val="6E45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6254496" y="621792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6332220" y="621792"/>
            <a:ext cx="41148" cy="201168"/>
          </a:xfrm>
          <a:prstGeom prst="rect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6409944" y="621792"/>
            <a:ext cx="82296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6528816" y="621792"/>
            <a:ext cx="82296" cy="201168"/>
          </a:xfrm>
          <a:prstGeom prst="rect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6647688" y="621792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6725412" y="621792"/>
            <a:ext cx="41148" cy="201168"/>
          </a:xfrm>
          <a:prstGeom prst="rect">
            <a:avLst/>
          </a:prstGeom>
          <a:solidFill>
            <a:srgbClr val="6E45A6"/>
          </a:solidFill>
          <a:ln w="12700">
            <a:solidFill>
              <a:srgbClr val="6E45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548640" y="2450592"/>
            <a:ext cx="2971800" cy="0"/>
          </a:xfrm>
          <a:prstGeom prst="line">
            <a:avLst/>
          </a:prstGeom>
          <a:noFill/>
          <a:ln w="9525">
            <a:solidFill>
              <a:srgbClr val="DFE3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1660" y="1307592"/>
            <a:ext cx="365760" cy="36576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548640" y="17099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Well-located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19842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ko-KR" altLang="en-US" sz="950" dirty="0" err="1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신논현</a:t>
            </a:r>
            <a:r>
              <a:rPr lang="en-US" sz="950" dirty="0" err="1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</a:t>
            </a: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오피스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altLang="ko-KR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 출구 </a:t>
            </a:r>
            <a:r>
              <a:rPr lang="en-US" sz="950" dirty="0" err="1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도보</a:t>
            </a: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altLang="ko-KR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 거리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3794760" y="2450592"/>
            <a:ext cx="2971800" cy="0"/>
          </a:xfrm>
          <a:prstGeom prst="line">
            <a:avLst/>
          </a:prstGeom>
          <a:noFill/>
          <a:ln w="9525">
            <a:solidFill>
              <a:srgbClr val="DFE3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97780" y="1307592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3794760" y="170992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Flextime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3794760" y="198424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유연근무제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출근시간 8:00–10:30 중 어느 때나</a:t>
            </a:r>
            <a:endParaRPr lang="en-US" sz="950" dirty="0"/>
          </a:p>
        </p:txBody>
      </p:sp>
      <p:sp>
        <p:nvSpPr>
          <p:cNvPr id="23" name="Shape 19"/>
          <p:cNvSpPr/>
          <p:nvPr/>
        </p:nvSpPr>
        <p:spPr>
          <a:xfrm>
            <a:off x="548640" y="3712464"/>
            <a:ext cx="2971800" cy="0"/>
          </a:xfrm>
          <a:prstGeom prst="line">
            <a:avLst/>
          </a:prstGeom>
          <a:noFill/>
          <a:ln w="9525">
            <a:solidFill>
              <a:srgbClr val="DFE3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1660" y="2569464"/>
            <a:ext cx="365760" cy="36576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4864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Dress Casually</a:t>
            </a:r>
            <a:endParaRPr lang="en-US" sz="1300" dirty="0"/>
          </a:p>
        </p:txBody>
      </p:sp>
      <p:sp>
        <p:nvSpPr>
          <p:cNvPr id="26" name="Text 21"/>
          <p:cNvSpPr txBox="1"/>
          <p:nvPr/>
        </p:nvSpPr>
        <p:spPr>
          <a:xfrm>
            <a:off x="54864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자유 복장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구두 대신 운동화</a:t>
            </a:r>
            <a:endParaRPr lang="en-US" sz="950" dirty="0"/>
          </a:p>
        </p:txBody>
      </p:sp>
      <p:sp>
        <p:nvSpPr>
          <p:cNvPr id="27" name="Shape 22"/>
          <p:cNvSpPr/>
          <p:nvPr/>
        </p:nvSpPr>
        <p:spPr>
          <a:xfrm>
            <a:off x="3794760" y="3712464"/>
            <a:ext cx="2971800" cy="0"/>
          </a:xfrm>
          <a:prstGeom prst="line">
            <a:avLst/>
          </a:prstGeom>
          <a:noFill/>
          <a:ln w="9525">
            <a:solidFill>
              <a:srgbClr val="DFE3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97780" y="2569464"/>
            <a:ext cx="365760" cy="365760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3794760" y="2971800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Flat Culture</a:t>
            </a:r>
            <a:endParaRPr lang="en-US" sz="1300" dirty="0"/>
          </a:p>
        </p:txBody>
      </p:sp>
      <p:sp>
        <p:nvSpPr>
          <p:cNvPr id="30" name="Text 24"/>
          <p:cNvSpPr txBox="1"/>
          <p:nvPr/>
        </p:nvSpPr>
        <p:spPr>
          <a:xfrm>
            <a:off x="3794760" y="324612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수평적 조직문화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직급 대신 이름으로 편하게 소통</a:t>
            </a:r>
            <a:endParaRPr lang="en-US" sz="950" dirty="0"/>
          </a:p>
        </p:txBody>
      </p:sp>
      <p:sp>
        <p:nvSpPr>
          <p:cNvPr id="31" name="Shape 25"/>
          <p:cNvSpPr/>
          <p:nvPr/>
        </p:nvSpPr>
        <p:spPr>
          <a:xfrm>
            <a:off x="548640" y="4974336"/>
            <a:ext cx="2971800" cy="0"/>
          </a:xfrm>
          <a:prstGeom prst="line">
            <a:avLst/>
          </a:prstGeom>
          <a:noFill/>
          <a:ln w="9525">
            <a:solidFill>
              <a:srgbClr val="DFE3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51660" y="3831336"/>
            <a:ext cx="365760" cy="365760"/>
          </a:xfrm>
          <a:prstGeom prst="rect">
            <a:avLst/>
          </a:prstGeom>
        </p:spPr>
      </p:pic>
      <p:sp>
        <p:nvSpPr>
          <p:cNvPr id="33" name="Text 26"/>
          <p:cNvSpPr txBox="1"/>
          <p:nvPr/>
        </p:nvSpPr>
        <p:spPr>
          <a:xfrm>
            <a:off x="548640" y="42336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Welcome Gifts</a:t>
            </a:r>
            <a:endParaRPr lang="en-US" sz="1300" dirty="0"/>
          </a:p>
        </p:txBody>
      </p:sp>
      <p:sp>
        <p:nvSpPr>
          <p:cNvPr id="34" name="Text 27"/>
          <p:cNvSpPr txBox="1"/>
          <p:nvPr/>
        </p:nvSpPr>
        <p:spPr>
          <a:xfrm>
            <a:off x="548640" y="45079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웰컴 기프트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새로운 동료를 환영하는 입사 선물</a:t>
            </a:r>
            <a:endParaRPr lang="en-US" sz="950" dirty="0"/>
          </a:p>
        </p:txBody>
      </p:sp>
      <p:sp>
        <p:nvSpPr>
          <p:cNvPr id="35" name="Shape 28"/>
          <p:cNvSpPr/>
          <p:nvPr/>
        </p:nvSpPr>
        <p:spPr>
          <a:xfrm>
            <a:off x="3794760" y="4974336"/>
            <a:ext cx="2971800" cy="0"/>
          </a:xfrm>
          <a:prstGeom prst="line">
            <a:avLst/>
          </a:prstGeom>
          <a:noFill/>
          <a:ln w="9525">
            <a:solidFill>
              <a:srgbClr val="DFE3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3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097780" y="3831336"/>
            <a:ext cx="365760" cy="365760"/>
          </a:xfrm>
          <a:prstGeom prst="rect">
            <a:avLst/>
          </a:prstGeom>
        </p:spPr>
      </p:pic>
      <p:sp>
        <p:nvSpPr>
          <p:cNvPr id="37" name="Text 29"/>
          <p:cNvSpPr txBox="1"/>
          <p:nvPr/>
        </p:nvSpPr>
        <p:spPr>
          <a:xfrm>
            <a:off x="3794760" y="4233672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 Adopter</a:t>
            </a:r>
            <a:endParaRPr lang="en-US" sz="1300" dirty="0"/>
          </a:p>
        </p:txBody>
      </p:sp>
      <p:sp>
        <p:nvSpPr>
          <p:cNvPr id="38" name="Text 30"/>
          <p:cNvSpPr txBox="1"/>
          <p:nvPr/>
        </p:nvSpPr>
        <p:spPr>
          <a:xfrm>
            <a:off x="3794760" y="450799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얼리어답터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신제품이 출시되면 전 직원에게 지급</a:t>
            </a:r>
            <a:endParaRPr lang="en-US" sz="950" dirty="0"/>
          </a:p>
        </p:txBody>
      </p:sp>
      <p:sp>
        <p:nvSpPr>
          <p:cNvPr id="39" name="Shape 31"/>
          <p:cNvSpPr/>
          <p:nvPr/>
        </p:nvSpPr>
        <p:spPr>
          <a:xfrm>
            <a:off x="548640" y="6236208"/>
            <a:ext cx="2971800" cy="0"/>
          </a:xfrm>
          <a:prstGeom prst="line">
            <a:avLst/>
          </a:prstGeom>
          <a:noFill/>
          <a:ln w="9525">
            <a:solidFill>
              <a:srgbClr val="DFE3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4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51660" y="5093208"/>
            <a:ext cx="365760" cy="365760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548640" y="54955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Experience</a:t>
            </a:r>
            <a:endParaRPr lang="en-US" sz="1300" dirty="0"/>
          </a:p>
        </p:txBody>
      </p:sp>
      <p:sp>
        <p:nvSpPr>
          <p:cNvPr id="42" name="Text 33"/>
          <p:cNvSpPr txBox="1"/>
          <p:nvPr/>
        </p:nvSpPr>
        <p:spPr>
          <a:xfrm>
            <a:off x="548640" y="576986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전시·시장 조사 출장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글로벌 브랜드 경험</a:t>
            </a:r>
            <a:endParaRPr lang="en-US" sz="950" dirty="0"/>
          </a:p>
        </p:txBody>
      </p:sp>
      <p:sp>
        <p:nvSpPr>
          <p:cNvPr id="43" name="Shape 34"/>
          <p:cNvSpPr/>
          <p:nvPr/>
        </p:nvSpPr>
        <p:spPr>
          <a:xfrm>
            <a:off x="3794760" y="6236208"/>
            <a:ext cx="2971800" cy="0"/>
          </a:xfrm>
          <a:prstGeom prst="line">
            <a:avLst/>
          </a:prstGeom>
          <a:noFill/>
          <a:ln w="9525">
            <a:solidFill>
              <a:srgbClr val="DFE3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44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97780" y="5093208"/>
            <a:ext cx="365760" cy="365760"/>
          </a:xfrm>
          <a:prstGeom prst="rect">
            <a:avLst/>
          </a:prstGeom>
        </p:spPr>
      </p:pic>
      <p:sp>
        <p:nvSpPr>
          <p:cNvPr id="45" name="Text 35"/>
          <p:cNvSpPr txBox="1"/>
          <p:nvPr/>
        </p:nvSpPr>
        <p:spPr>
          <a:xfrm>
            <a:off x="3794760" y="5495544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Employee Discount</a:t>
            </a:r>
            <a:endParaRPr lang="en-US" sz="1300" dirty="0"/>
          </a:p>
        </p:txBody>
      </p:sp>
      <p:sp>
        <p:nvSpPr>
          <p:cNvPr id="46" name="Text 36"/>
          <p:cNvSpPr txBox="1"/>
          <p:nvPr/>
        </p:nvSpPr>
        <p:spPr>
          <a:xfrm>
            <a:off x="3794760" y="5769864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브랜드 원가 구매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Zengenetics 제품 매년 지급</a:t>
            </a:r>
            <a:endParaRPr lang="en-US" sz="950" dirty="0"/>
          </a:p>
        </p:txBody>
      </p:sp>
      <p:sp>
        <p:nvSpPr>
          <p:cNvPr id="47" name="Shape 37"/>
          <p:cNvSpPr/>
          <p:nvPr/>
        </p:nvSpPr>
        <p:spPr>
          <a:xfrm>
            <a:off x="548640" y="7498080"/>
            <a:ext cx="2971800" cy="0"/>
          </a:xfrm>
          <a:prstGeom prst="line">
            <a:avLst/>
          </a:prstGeom>
          <a:noFill/>
          <a:ln w="9525">
            <a:solidFill>
              <a:srgbClr val="DFE3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48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51660" y="6355080"/>
            <a:ext cx="365760" cy="365760"/>
          </a:xfrm>
          <a:prstGeom prst="rect">
            <a:avLst/>
          </a:prstGeom>
        </p:spPr>
      </p:pic>
      <p:sp>
        <p:nvSpPr>
          <p:cNvPr id="49" name="Text 38"/>
          <p:cNvSpPr txBox="1"/>
          <p:nvPr/>
        </p:nvSpPr>
        <p:spPr>
          <a:xfrm>
            <a:off x="548640" y="67574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Lunch &amp; Dinner</a:t>
            </a:r>
            <a:endParaRPr lang="en-US" sz="1300" dirty="0"/>
          </a:p>
        </p:txBody>
      </p:sp>
      <p:sp>
        <p:nvSpPr>
          <p:cNvPr id="50" name="Text 39"/>
          <p:cNvSpPr txBox="1"/>
          <p:nvPr/>
        </p:nvSpPr>
        <p:spPr>
          <a:xfrm>
            <a:off x="548640" y="70317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점심 식사 지원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늦게까지 몰입하는 날엔 저녁까지 지원</a:t>
            </a:r>
            <a:endParaRPr lang="en-US" sz="950" dirty="0"/>
          </a:p>
        </p:txBody>
      </p:sp>
      <p:sp>
        <p:nvSpPr>
          <p:cNvPr id="51" name="Shape 40"/>
          <p:cNvSpPr/>
          <p:nvPr/>
        </p:nvSpPr>
        <p:spPr>
          <a:xfrm>
            <a:off x="3794760" y="7498080"/>
            <a:ext cx="2971800" cy="0"/>
          </a:xfrm>
          <a:prstGeom prst="line">
            <a:avLst/>
          </a:prstGeom>
          <a:noFill/>
          <a:ln w="9525">
            <a:solidFill>
              <a:srgbClr val="DFE3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52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97780" y="6355080"/>
            <a:ext cx="365760" cy="365760"/>
          </a:xfrm>
          <a:prstGeom prst="rect">
            <a:avLst/>
          </a:prstGeom>
        </p:spPr>
      </p:pic>
      <p:sp>
        <p:nvSpPr>
          <p:cNvPr id="53" name="Text 41"/>
          <p:cNvSpPr txBox="1"/>
          <p:nvPr/>
        </p:nvSpPr>
        <p:spPr>
          <a:xfrm>
            <a:off x="3794760" y="6757416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Birthday Leave</a:t>
            </a:r>
            <a:endParaRPr lang="en-US" sz="1300" dirty="0"/>
          </a:p>
        </p:txBody>
      </p:sp>
      <p:sp>
        <p:nvSpPr>
          <p:cNvPr id="54" name="Text 42"/>
          <p:cNvSpPr txBox="1"/>
          <p:nvPr/>
        </p:nvSpPr>
        <p:spPr>
          <a:xfrm>
            <a:off x="3794760" y="7031736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 반차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생일 반차 제도</a:t>
            </a:r>
            <a:endParaRPr lang="en-US" sz="950" dirty="0"/>
          </a:p>
        </p:txBody>
      </p:sp>
      <p:pic>
        <p:nvPicPr>
          <p:cNvPr id="55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851660" y="7616952"/>
            <a:ext cx="365760" cy="365760"/>
          </a:xfrm>
          <a:prstGeom prst="rect">
            <a:avLst/>
          </a:prstGeom>
        </p:spPr>
      </p:pic>
      <p:sp>
        <p:nvSpPr>
          <p:cNvPr id="56" name="Text 43"/>
          <p:cNvSpPr txBox="1"/>
          <p:nvPr/>
        </p:nvSpPr>
        <p:spPr>
          <a:xfrm>
            <a:off x="548640" y="8019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Self-Development</a:t>
            </a:r>
            <a:endParaRPr lang="en-US" sz="1300" dirty="0"/>
          </a:p>
        </p:txBody>
      </p:sp>
      <p:sp>
        <p:nvSpPr>
          <p:cNvPr id="57" name="Text 44"/>
          <p:cNvSpPr txBox="1"/>
          <p:nvPr/>
        </p:nvSpPr>
        <p:spPr>
          <a:xfrm>
            <a:off x="548640" y="82936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자기 계발 지원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업무에 필요한 교육과 도서 지원</a:t>
            </a:r>
            <a:endParaRPr lang="en-US" sz="950" dirty="0"/>
          </a:p>
        </p:txBody>
      </p:sp>
      <p:pic>
        <p:nvPicPr>
          <p:cNvPr id="58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097780" y="7616952"/>
            <a:ext cx="365760" cy="365760"/>
          </a:xfrm>
          <a:prstGeom prst="rect">
            <a:avLst/>
          </a:prstGeom>
        </p:spPr>
      </p:pic>
      <p:sp>
        <p:nvSpPr>
          <p:cNvPr id="59" name="Text 45"/>
          <p:cNvSpPr txBox="1"/>
          <p:nvPr/>
        </p:nvSpPr>
        <p:spPr>
          <a:xfrm>
            <a:off x="3794760" y="8019288"/>
            <a:ext cx="2971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Event</a:t>
            </a:r>
            <a:endParaRPr lang="en-US" sz="1300" dirty="0"/>
          </a:p>
        </p:txBody>
      </p:sp>
      <p:sp>
        <p:nvSpPr>
          <p:cNvPr id="60" name="Text 46"/>
          <p:cNvSpPr txBox="1"/>
          <p:nvPr/>
        </p:nvSpPr>
        <p:spPr>
          <a:xfrm>
            <a:off x="3794760" y="8293608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경조사 지원</a:t>
            </a:r>
            <a:endParaRPr lang="en-US" sz="950" dirty="0"/>
          </a:p>
          <a:p>
            <a:pPr marL="0" indent="0" algn="ctr">
              <a:lnSpc>
                <a:spcPct val="125000"/>
              </a:lnSpc>
              <a:buNone/>
            </a:pPr>
            <a:r>
              <a:rPr lang="en-US" sz="9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기쁨은 두 배로, 슬픔은 반으로</a:t>
            </a:r>
            <a:endParaRPr lang="en-US" sz="950" dirty="0"/>
          </a:p>
        </p:txBody>
      </p:sp>
      <p:sp>
        <p:nvSpPr>
          <p:cNvPr id="61" name="Shape 47"/>
          <p:cNvSpPr/>
          <p:nvPr/>
        </p:nvSpPr>
        <p:spPr>
          <a:xfrm>
            <a:off x="3657600" y="1234440"/>
            <a:ext cx="0" cy="7479792"/>
          </a:xfrm>
          <a:prstGeom prst="line">
            <a:avLst/>
          </a:prstGeom>
          <a:noFill/>
          <a:ln w="9525">
            <a:solidFill>
              <a:srgbClr val="DFE3EA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626364" y="548640"/>
            <a:ext cx="82296" cy="201168"/>
          </a:xfrm>
          <a:prstGeom prst="rect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745236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822960" y="548640"/>
            <a:ext cx="41148" cy="201168"/>
          </a:xfrm>
          <a:prstGeom prst="rect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900684" y="548640"/>
            <a:ext cx="123444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1060704" y="548640"/>
            <a:ext cx="82296" cy="201168"/>
          </a:xfrm>
          <a:prstGeom prst="rect">
            <a:avLst/>
          </a:prstGeom>
          <a:solidFill>
            <a:srgbClr val="6E45A6"/>
          </a:solidFill>
          <a:ln w="12700">
            <a:solidFill>
              <a:srgbClr val="6E45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1179576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1257300" y="548640"/>
            <a:ext cx="41148" cy="201168"/>
          </a:xfrm>
          <a:prstGeom prst="rect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1335024" y="548640"/>
            <a:ext cx="82296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1453896" y="548640"/>
            <a:ext cx="82296" cy="201168"/>
          </a:xfrm>
          <a:prstGeom prst="rect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1572768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1650492" y="548640"/>
            <a:ext cx="41148" cy="201168"/>
          </a:xfrm>
          <a:prstGeom prst="rect">
            <a:avLst/>
          </a:prstGeom>
          <a:solidFill>
            <a:srgbClr val="6E45A6"/>
          </a:solidFill>
          <a:ln w="12700">
            <a:solidFill>
              <a:srgbClr val="6E45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548640" y="1188720"/>
            <a:ext cx="6217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0000"/>
              </a:lnSpc>
              <a:buNone/>
            </a:pPr>
            <a:r>
              <a:rPr lang="en-US" sz="2600" b="1" kern="0" spc="-100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Frontiers of</a:t>
            </a:r>
            <a:endParaRPr lang="en-US" sz="2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2600" b="1" kern="0" spc="-100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Wellness Branding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2834640"/>
            <a:ext cx="6217920" cy="173736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868680" y="3154680"/>
            <a:ext cx="640080" cy="640080"/>
          </a:xfrm>
          <a:prstGeom prst="ellipse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86868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1783080" y="31089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Teamwork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1783080" y="356616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자율과 수평, 존중과 배려를 경험하고 싶은 사람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논리적인 소통을 뛰어난 동료들과 나누고 싶은 사람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46320"/>
            <a:ext cx="6217920" cy="173736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1" name="Shape 19"/>
          <p:cNvSpPr/>
          <p:nvPr/>
        </p:nvSpPr>
        <p:spPr>
          <a:xfrm>
            <a:off x="868680" y="5166360"/>
            <a:ext cx="640080" cy="640080"/>
          </a:xfrm>
          <a:prstGeom prst="ellipse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2" name="Text 20"/>
          <p:cNvSpPr txBox="1"/>
          <p:nvPr/>
        </p:nvSpPr>
        <p:spPr>
          <a:xfrm>
            <a:off x="868680" y="51663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5120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Growth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1783080" y="557784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한국을 넘어 세계 시장에서 브랜드를 키워보고 싶은 사람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선도적인 기획/개발 프로세스를 체화하고 싶은 사람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6858000"/>
            <a:ext cx="6217920" cy="1737360"/>
          </a:xfrm>
          <a:prstGeom prst="rect">
            <a:avLst/>
          </a:prstGeom>
          <a:solidFill>
            <a:srgbClr val="F5F7FB"/>
          </a:solidFill>
          <a:ln w="12700">
            <a:solidFill>
              <a:srgbClr val="F5F7FB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Shape 24"/>
          <p:cNvSpPr/>
          <p:nvPr/>
        </p:nvSpPr>
        <p:spPr>
          <a:xfrm>
            <a:off x="868680" y="7178040"/>
            <a:ext cx="640080" cy="640080"/>
          </a:xfrm>
          <a:prstGeom prst="ellipse">
            <a:avLst/>
          </a:prstGeom>
          <a:solidFill>
            <a:srgbClr val="6E45A6"/>
          </a:solidFill>
          <a:ln w="12700">
            <a:solidFill>
              <a:srgbClr val="6E45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Text 25"/>
          <p:cNvSpPr txBox="1"/>
          <p:nvPr/>
        </p:nvSpPr>
        <p:spPr>
          <a:xfrm>
            <a:off x="868680" y="71780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783080" y="71323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C3D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Ownership</a:t>
            </a:r>
            <a:endParaRPr lang="en-US" sz="2000" dirty="0"/>
          </a:p>
        </p:txBody>
      </p:sp>
      <p:sp>
        <p:nvSpPr>
          <p:cNvPr id="29" name="Text 27"/>
          <p:cNvSpPr txBox="1"/>
          <p:nvPr/>
        </p:nvSpPr>
        <p:spPr>
          <a:xfrm>
            <a:off x="1783080" y="7589520"/>
            <a:ext cx="4663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최적의 의사 결정과 효율적인 실행을 독립적으로 수행하는 사람</a:t>
            </a: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endParaRPr lang="en-US" sz="11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이니셔티브를 발휘할 기회를 누려보고 싶은 사람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029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마케터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6217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A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신입지원 가능 · 경력 1~5년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623560" y="621792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5701284" y="621792"/>
            <a:ext cx="82296" cy="201168"/>
          </a:xfrm>
          <a:prstGeom prst="rect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5820156" y="621792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5897880" y="621792"/>
            <a:ext cx="41148" cy="201168"/>
          </a:xfrm>
          <a:prstGeom prst="rect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5975604" y="621792"/>
            <a:ext cx="123444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6135624" y="621792"/>
            <a:ext cx="82296" cy="201168"/>
          </a:xfrm>
          <a:prstGeom prst="rect">
            <a:avLst/>
          </a:prstGeom>
          <a:solidFill>
            <a:srgbClr val="6E45A6"/>
          </a:solidFill>
          <a:ln w="12700">
            <a:solidFill>
              <a:srgbClr val="6E45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6254496" y="621792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6332220" y="621792"/>
            <a:ext cx="41148" cy="201168"/>
          </a:xfrm>
          <a:prstGeom prst="rect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6409944" y="621792"/>
            <a:ext cx="82296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6528816" y="621792"/>
            <a:ext cx="82296" cy="201168"/>
          </a:xfrm>
          <a:prstGeom prst="rect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Shape 12"/>
          <p:cNvSpPr/>
          <p:nvPr/>
        </p:nvSpPr>
        <p:spPr>
          <a:xfrm>
            <a:off x="6647688" y="621792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5" name="Shape 13"/>
          <p:cNvSpPr/>
          <p:nvPr/>
        </p:nvSpPr>
        <p:spPr>
          <a:xfrm>
            <a:off x="6725412" y="621792"/>
            <a:ext cx="41148" cy="201168"/>
          </a:xfrm>
          <a:prstGeom prst="rect">
            <a:avLst/>
          </a:prstGeom>
          <a:solidFill>
            <a:srgbClr val="6E45A6"/>
          </a:solidFill>
          <a:ln w="12700">
            <a:solidFill>
              <a:srgbClr val="6E45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6" name="Shape 14"/>
          <p:cNvSpPr/>
          <p:nvPr/>
        </p:nvSpPr>
        <p:spPr>
          <a:xfrm>
            <a:off x="548640" y="1810512"/>
            <a:ext cx="146304" cy="146304"/>
          </a:xfrm>
          <a:prstGeom prst="ellipse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7" name="Text 15"/>
          <p:cNvSpPr txBox="1"/>
          <p:nvPr/>
        </p:nvSpPr>
        <p:spPr>
          <a:xfrm>
            <a:off x="804672" y="173736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주요업무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2103120"/>
            <a:ext cx="6126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SNS(인스타그램, 틱톡, 유튜브) 광고형 콘텐츠 기획, 촬영 및 제작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바이럴 영상 및 광고 카피라이팅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국내외 채널에 맞춘 브랜드 콘텐츠 로컬라이징 및 글로벌 캠페인 협업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웰니스 라이프스타일을 담은 에디토리얼·브랜디드 콘텐츠 제작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콘텐츠 성과 분석 및 데이터 분석 기반으로 소재 개선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3611880"/>
            <a:ext cx="146304" cy="146304"/>
          </a:xfrm>
          <a:prstGeom prst="ellipse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0" name="Text 18"/>
          <p:cNvSpPr txBox="1"/>
          <p:nvPr/>
        </p:nvSpPr>
        <p:spPr>
          <a:xfrm>
            <a:off x="804672" y="35387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자격요건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904488"/>
            <a:ext cx="612648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경력 무관 (신입 지원 가능)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Adobe Premiere Pro 활용 능력 필수 (컷 편집 및 자막 가능)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Photoshop, Illustrator 등 디자인 툴 활용 가능한 분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트렌드에 민감하고 기획을 영상으로 직접 구현 가능한 분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브랜드 톤앤매너(프리미엄·미니멀·에디토리얼)를 이해하고 콘텐츠에 일관되게 반영할 수 있는 분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해외 출장 결격 사유가 없으신 분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48640" y="5660136"/>
            <a:ext cx="146304" cy="146304"/>
          </a:xfrm>
          <a:prstGeom prst="ellipse">
            <a:avLst/>
          </a:prstGeom>
          <a:solidFill>
            <a:srgbClr val="6E45A6"/>
          </a:solidFill>
          <a:ln w="12700">
            <a:solidFill>
              <a:srgbClr val="6E45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3" name="Text 21"/>
          <p:cNvSpPr txBox="1"/>
          <p:nvPr/>
        </p:nvSpPr>
        <p:spPr>
          <a:xfrm>
            <a:off x="804672" y="558698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우대사항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952744"/>
            <a:ext cx="6126480" cy="1819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촬영 디렉팅 경험 있으신 분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카메라, 조명 등 촬영장비 운용 경험 있으신 분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AI(이미지·영상) 제작 경험 있으신 분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영어 등 외국어로 콘텐츠 제작이 가능하거나 해외 시장 트렌드에 관심 있으신 분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웰니스·뷰티·헬스케어 브랜드 콘텐츠 제작 경험 있으신 분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건강기능식품 표시·광고 심의 기준을 이해하고 계신 분</a:t>
            </a:r>
            <a:endParaRPr lang="en-US" sz="11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인스타그램, 유튜브 등 개인 채널 운영 및 성장 경험 있으신 분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7955280"/>
            <a:ext cx="146304" cy="146304"/>
          </a:xfrm>
          <a:prstGeom prst="ellipse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6" name="Text 24"/>
          <p:cNvSpPr txBox="1"/>
          <p:nvPr/>
        </p:nvSpPr>
        <p:spPr>
          <a:xfrm>
            <a:off x="804672" y="788212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43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필수 제출서류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8247888"/>
            <a:ext cx="61264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3C435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" name="Shape 1"/>
          <p:cNvSpPr/>
          <p:nvPr/>
        </p:nvSpPr>
        <p:spPr>
          <a:xfrm>
            <a:off x="626364" y="548640"/>
            <a:ext cx="82296" cy="201168"/>
          </a:xfrm>
          <a:prstGeom prst="rect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4" name="Shape 2"/>
          <p:cNvSpPr/>
          <p:nvPr/>
        </p:nvSpPr>
        <p:spPr>
          <a:xfrm>
            <a:off x="745236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5" name="Shape 3"/>
          <p:cNvSpPr/>
          <p:nvPr/>
        </p:nvSpPr>
        <p:spPr>
          <a:xfrm>
            <a:off x="822960" y="548640"/>
            <a:ext cx="41148" cy="201168"/>
          </a:xfrm>
          <a:prstGeom prst="rect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6" name="Shape 4"/>
          <p:cNvSpPr/>
          <p:nvPr/>
        </p:nvSpPr>
        <p:spPr>
          <a:xfrm>
            <a:off x="900684" y="548640"/>
            <a:ext cx="123444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7" name="Shape 5"/>
          <p:cNvSpPr/>
          <p:nvPr/>
        </p:nvSpPr>
        <p:spPr>
          <a:xfrm>
            <a:off x="1060704" y="548640"/>
            <a:ext cx="82296" cy="201168"/>
          </a:xfrm>
          <a:prstGeom prst="rect">
            <a:avLst/>
          </a:prstGeom>
          <a:solidFill>
            <a:srgbClr val="6E45A6"/>
          </a:solidFill>
          <a:ln w="12700">
            <a:solidFill>
              <a:srgbClr val="6E45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8" name="Shape 6"/>
          <p:cNvSpPr/>
          <p:nvPr/>
        </p:nvSpPr>
        <p:spPr>
          <a:xfrm>
            <a:off x="1179576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9" name="Shape 7"/>
          <p:cNvSpPr/>
          <p:nvPr/>
        </p:nvSpPr>
        <p:spPr>
          <a:xfrm>
            <a:off x="1257300" y="548640"/>
            <a:ext cx="41148" cy="201168"/>
          </a:xfrm>
          <a:prstGeom prst="rect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0" name="Shape 8"/>
          <p:cNvSpPr/>
          <p:nvPr/>
        </p:nvSpPr>
        <p:spPr>
          <a:xfrm>
            <a:off x="1335024" y="548640"/>
            <a:ext cx="82296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1" name="Shape 9"/>
          <p:cNvSpPr/>
          <p:nvPr/>
        </p:nvSpPr>
        <p:spPr>
          <a:xfrm>
            <a:off x="1453896" y="548640"/>
            <a:ext cx="82296" cy="201168"/>
          </a:xfrm>
          <a:prstGeom prst="rect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2" name="Shape 10"/>
          <p:cNvSpPr/>
          <p:nvPr/>
        </p:nvSpPr>
        <p:spPr>
          <a:xfrm>
            <a:off x="1572768" y="548640"/>
            <a:ext cx="41148" cy="201168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3" name="Shape 11"/>
          <p:cNvSpPr/>
          <p:nvPr/>
        </p:nvSpPr>
        <p:spPr>
          <a:xfrm>
            <a:off x="1650492" y="548640"/>
            <a:ext cx="41148" cy="201168"/>
          </a:xfrm>
          <a:prstGeom prst="rect">
            <a:avLst/>
          </a:prstGeom>
          <a:solidFill>
            <a:srgbClr val="6E45A6"/>
          </a:solidFill>
          <a:ln w="12700">
            <a:solidFill>
              <a:srgbClr val="6E45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14" name="Text 12"/>
          <p:cNvSpPr txBox="1"/>
          <p:nvPr/>
        </p:nvSpPr>
        <p:spPr>
          <a:xfrm>
            <a:off x="548640" y="1188720"/>
            <a:ext cx="6217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C3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전형절차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548640" y="29260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3337560"/>
            <a:ext cx="640080" cy="64008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36576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서류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2359152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2926080" y="29260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3337560"/>
            <a:ext cx="640080" cy="640080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274320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대면면접</a:t>
            </a:r>
            <a:endParaRPr lang="en-US" sz="1300" dirty="0"/>
          </a:p>
        </p:txBody>
      </p:sp>
      <p:sp>
        <p:nvSpPr>
          <p:cNvPr id="22" name="Text 18"/>
          <p:cNvSpPr txBox="1"/>
          <p:nvPr/>
        </p:nvSpPr>
        <p:spPr>
          <a:xfrm>
            <a:off x="4736592" y="347472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A9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303520" y="2926080"/>
            <a:ext cx="1463040" cy="146304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6E45A6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33756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120640" y="45720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3D8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최종합격</a:t>
            </a:r>
            <a:endParaRPr lang="en-US" sz="1300" dirty="0"/>
          </a:p>
        </p:txBody>
      </p:sp>
      <p:sp>
        <p:nvSpPr>
          <p:cNvPr id="26" name="Shape 21"/>
          <p:cNvSpPr/>
          <p:nvPr/>
        </p:nvSpPr>
        <p:spPr>
          <a:xfrm>
            <a:off x="548640" y="5760720"/>
            <a:ext cx="6217920" cy="2103120"/>
          </a:xfrm>
          <a:prstGeom prst="rect">
            <a:avLst/>
          </a:prstGeom>
          <a:solidFill>
            <a:srgbClr val="1C3D8F"/>
          </a:solidFill>
          <a:ln w="12700">
            <a:solidFill>
              <a:srgbClr val="1C3D8F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7" name="Shape 22"/>
          <p:cNvSpPr/>
          <p:nvPr/>
        </p:nvSpPr>
        <p:spPr>
          <a:xfrm>
            <a:off x="960120" y="6126480"/>
            <a:ext cx="41148" cy="182880"/>
          </a:xfrm>
          <a:prstGeom prst="rect">
            <a:avLst/>
          </a:prstGeom>
          <a:solidFill>
            <a:srgbClr val="5C74B8"/>
          </a:solidFill>
          <a:ln w="12700">
            <a:solidFill>
              <a:srgbClr val="5C74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8" name="Shape 23"/>
          <p:cNvSpPr/>
          <p:nvPr/>
        </p:nvSpPr>
        <p:spPr>
          <a:xfrm>
            <a:off x="1037844" y="6126480"/>
            <a:ext cx="82296" cy="182880"/>
          </a:xfrm>
          <a:prstGeom prst="rect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29" name="Shape 24"/>
          <p:cNvSpPr/>
          <p:nvPr/>
        </p:nvSpPr>
        <p:spPr>
          <a:xfrm>
            <a:off x="1156716" y="6126480"/>
            <a:ext cx="41148" cy="182880"/>
          </a:xfrm>
          <a:prstGeom prst="rect">
            <a:avLst/>
          </a:prstGeom>
          <a:solidFill>
            <a:srgbClr val="5C74B8"/>
          </a:solidFill>
          <a:ln w="12700">
            <a:solidFill>
              <a:srgbClr val="5C74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0" name="Shape 25"/>
          <p:cNvSpPr/>
          <p:nvPr/>
        </p:nvSpPr>
        <p:spPr>
          <a:xfrm>
            <a:off x="1234440" y="6126480"/>
            <a:ext cx="41148" cy="182880"/>
          </a:xfrm>
          <a:prstGeom prst="rect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1" name="Shape 26"/>
          <p:cNvSpPr/>
          <p:nvPr/>
        </p:nvSpPr>
        <p:spPr>
          <a:xfrm>
            <a:off x="1312164" y="6126480"/>
            <a:ext cx="123444" cy="182880"/>
          </a:xfrm>
          <a:prstGeom prst="rect">
            <a:avLst/>
          </a:prstGeom>
          <a:solidFill>
            <a:srgbClr val="5C74B8"/>
          </a:solidFill>
          <a:ln w="12700">
            <a:solidFill>
              <a:srgbClr val="5C74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2" name="Shape 27"/>
          <p:cNvSpPr/>
          <p:nvPr/>
        </p:nvSpPr>
        <p:spPr>
          <a:xfrm>
            <a:off x="1472184" y="6126480"/>
            <a:ext cx="82296" cy="182880"/>
          </a:xfrm>
          <a:prstGeom prst="rect">
            <a:avLst/>
          </a:prstGeom>
          <a:solidFill>
            <a:srgbClr val="B39AE0"/>
          </a:solidFill>
          <a:ln w="12700">
            <a:solidFill>
              <a:srgbClr val="B39AE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3" name="Shape 28"/>
          <p:cNvSpPr/>
          <p:nvPr/>
        </p:nvSpPr>
        <p:spPr>
          <a:xfrm>
            <a:off x="1591056" y="6126480"/>
            <a:ext cx="41148" cy="182880"/>
          </a:xfrm>
          <a:prstGeom prst="rect">
            <a:avLst/>
          </a:prstGeom>
          <a:solidFill>
            <a:srgbClr val="5C74B8"/>
          </a:solidFill>
          <a:ln w="12700">
            <a:solidFill>
              <a:srgbClr val="5C74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4" name="Shape 29"/>
          <p:cNvSpPr/>
          <p:nvPr/>
        </p:nvSpPr>
        <p:spPr>
          <a:xfrm>
            <a:off x="1668780" y="6126480"/>
            <a:ext cx="41148" cy="182880"/>
          </a:xfrm>
          <a:prstGeom prst="rect">
            <a:avLst/>
          </a:prstGeom>
          <a:solidFill>
            <a:srgbClr val="7CB92E"/>
          </a:solidFill>
          <a:ln w="12700">
            <a:solidFill>
              <a:srgbClr val="7CB92E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5" name="Shape 30"/>
          <p:cNvSpPr/>
          <p:nvPr/>
        </p:nvSpPr>
        <p:spPr>
          <a:xfrm>
            <a:off x="1746504" y="6126480"/>
            <a:ext cx="82296" cy="182880"/>
          </a:xfrm>
          <a:prstGeom prst="rect">
            <a:avLst/>
          </a:prstGeom>
          <a:solidFill>
            <a:srgbClr val="5C74B8"/>
          </a:solidFill>
          <a:ln w="12700">
            <a:solidFill>
              <a:srgbClr val="5C74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6" name="Shape 31"/>
          <p:cNvSpPr/>
          <p:nvPr/>
        </p:nvSpPr>
        <p:spPr>
          <a:xfrm>
            <a:off x="1865376" y="6126480"/>
            <a:ext cx="82296" cy="182880"/>
          </a:xfrm>
          <a:prstGeom prst="rect">
            <a:avLst/>
          </a:prstGeom>
          <a:solidFill>
            <a:srgbClr val="C13058"/>
          </a:solidFill>
          <a:ln w="12700">
            <a:solidFill>
              <a:srgbClr val="C1305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7" name="Shape 32"/>
          <p:cNvSpPr/>
          <p:nvPr/>
        </p:nvSpPr>
        <p:spPr>
          <a:xfrm>
            <a:off x="1984248" y="6126480"/>
            <a:ext cx="41148" cy="182880"/>
          </a:xfrm>
          <a:prstGeom prst="rect">
            <a:avLst/>
          </a:prstGeom>
          <a:solidFill>
            <a:srgbClr val="5C74B8"/>
          </a:solidFill>
          <a:ln w="12700">
            <a:solidFill>
              <a:srgbClr val="5C74B8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8" name="Shape 33"/>
          <p:cNvSpPr/>
          <p:nvPr/>
        </p:nvSpPr>
        <p:spPr>
          <a:xfrm>
            <a:off x="2061972" y="6126480"/>
            <a:ext cx="41148" cy="182880"/>
          </a:xfrm>
          <a:prstGeom prst="rect">
            <a:avLst/>
          </a:prstGeom>
          <a:solidFill>
            <a:srgbClr val="B39AE0"/>
          </a:solidFill>
          <a:ln w="12700">
            <a:solidFill>
              <a:srgbClr val="B39AE0"/>
            </a:solidFill>
            <a:prstDash val="solid"/>
          </a:ln>
        </p:spPr>
        <p:txBody>
          <a:bodyPr/>
          <a:lstStyle/>
          <a:p>
            <a:endParaRPr lang="en-KR"/>
          </a:p>
        </p:txBody>
      </p:sp>
      <p:sp>
        <p:nvSpPr>
          <p:cNvPr id="39" name="Text 34"/>
          <p:cNvSpPr txBox="1"/>
          <p:nvPr/>
        </p:nvSpPr>
        <p:spPr>
          <a:xfrm>
            <a:off x="960120" y="644652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50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지원 방법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포트폴리오와 이력서를 아래 메일로 보내주세요.</a:t>
            </a:r>
            <a:endParaRPr lang="en-US" sz="1200" dirty="0"/>
          </a:p>
          <a:p>
            <a:pPr marL="0" indent="0">
              <a:lnSpc>
                <a:spcPct val="150000"/>
              </a:lnSpc>
              <a:buNone/>
            </a:pPr>
            <a:r>
              <a:rPr lang="en-US" sz="14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wespot@wespot.co.kr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548640" y="8366760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0A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주식회사 위스팟바이오랩 · Zengenetics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578</Words>
  <Application>Microsoft Macintosh PowerPoint</Application>
  <PresentationFormat>Custom</PresentationFormat>
  <Paragraphs>114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Malgun Gothic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t1153</cp:lastModifiedBy>
  <cp:revision>2</cp:revision>
  <dcterms:created xsi:type="dcterms:W3CDTF">2026-09-01T07:44:01Z</dcterms:created>
  <dcterms:modified xsi:type="dcterms:W3CDTF">2026-09-01T07:50:40Z</dcterms:modified>
</cp:coreProperties>
</file>